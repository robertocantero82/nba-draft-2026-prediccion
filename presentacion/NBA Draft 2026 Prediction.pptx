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  <p:embeddedFont>
      <p:font typeface="Urbanist Black"/>
      <p:bold r:id="rId26"/>
      <p:boldItalic r:id="rId27"/>
    </p:embeddedFont>
    <p:embeddedFont>
      <p:font typeface="Montserrat ExtraBold"/>
      <p:bold r:id="rId28"/>
      <p:boldItalic r:id="rId29"/>
    </p:embeddedFont>
    <p:embeddedFont>
      <p:font typeface="Urbanist ExtraBold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Black-bold.fntdata"/><Relationship Id="rId25" Type="http://schemas.openxmlformats.org/officeDocument/2006/relationships/font" Target="fonts/Urbanist-boldItalic.fntdata"/><Relationship Id="rId28" Type="http://schemas.openxmlformats.org/officeDocument/2006/relationships/font" Target="fonts/MontserratExtraBold-bold.fntdata"/><Relationship Id="rId27" Type="http://schemas.openxmlformats.org/officeDocument/2006/relationships/font" Target="fonts/UrbanistBlack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ExtraBold-boldItalic.fntdata"/><Relationship Id="rId30" Type="http://schemas.openxmlformats.org/officeDocument/2006/relationships/font" Target="fonts/UrbanistExtra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28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22.png"/><Relationship Id="rId7" Type="http://schemas.openxmlformats.org/officeDocument/2006/relationships/image" Target="../media/image17.png"/><Relationship Id="rId8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Relationship Id="rId6" Type="http://schemas.openxmlformats.org/officeDocument/2006/relationships/image" Target="../media/image24.png"/><Relationship Id="rId7" Type="http://schemas.openxmlformats.org/officeDocument/2006/relationships/image" Target="../media/image27.png"/><Relationship Id="rId8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76487" y="1800225"/>
            <a:ext cx="743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</a:t>
            </a:r>
            <a:r>
              <a:rPr lang="en-US" sz="24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YECTO</a:t>
            </a:r>
            <a:r>
              <a:rPr b="0" i="0" lang="en-US" sz="24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MACHINE LEARNING · THE BRIDGE 2026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30479" y="2769500"/>
            <a:ext cx="9131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NBA DRAFT 2026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866950" y="4220925"/>
            <a:ext cx="645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El trabajo de un periodista apoyado con las predicciones de modelos de ML</a:t>
            </a:r>
            <a:endParaRPr sz="24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762500" y="5673350"/>
            <a:ext cx="266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ROBERTO CANTERO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2209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73161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09625" y="571500"/>
            <a:ext cx="1135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LA PROPUESTA: DATOS </a:t>
            </a:r>
            <a:r>
              <a:rPr lang="en-US" sz="4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vs </a:t>
            </a:r>
            <a:r>
              <a:rPr b="0" i="0" lang="en-US" sz="42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OPINIÓN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571500"/>
            <a:ext cx="95250" cy="586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236803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PERIODISMO CON DATOS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617440"/>
            <a:ext cx="5238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Cada año, los medios inundan el Draft con opiniones subjetivas. Este proyecto ofrece una alternativ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5046315"/>
            <a:ext cx="5238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¿Es posible escribir un artículo con información extraída de un modelo de Machine Learning?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3474690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 modelo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entrenado con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13 años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 datos reales.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3998565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Análisis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"corazonadas".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4522440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Información respaldada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por el rigor del Machine Learning.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7469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9856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22440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2652"/>
            <a:ext cx="342900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412652"/>
            <a:ext cx="342900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2412652"/>
            <a:ext cx="3429000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962025" y="2803177"/>
            <a:ext cx="2647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97316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61K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362075" y="3717577"/>
            <a:ext cx="18478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Registros Originales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772025" y="2803177"/>
            <a:ext cx="2647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97316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13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248275" y="3717577"/>
            <a:ext cx="1695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Años (2009–2021)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582025" y="2803177"/>
            <a:ext cx="2647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97316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25K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082087" y="3717577"/>
            <a:ext cx="16478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Jugadores Únicos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09625" y="571500"/>
            <a:ext cx="11351418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LA FUENTE: NCAA HISTÓRICO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571500"/>
            <a:ext cx="95250" cy="586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4746277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Incluye métricas avanzadas: BPM, eFG%, TS%, Usage Rate, además de stats clásicas (PTS, REB, AST, BLK).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Variable objetivo: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Posición de Pick (Sin pick = No Drafteado).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2209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73161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809625" y="571500"/>
            <a:ext cx="11351418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PREPARACIÓN DEL DATASET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571500"/>
            <a:ext cx="95250" cy="586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508725" y="2456927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INGENIERÍA DE VARIABLES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52500" y="292700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Reducción de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66 a 37 features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críticas.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52500" y="3450877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Tratamiento de NaNs en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Rec Rank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(70% faltante).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952500" y="397475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Medianas anuales para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stats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básicas y porcentajes.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52500" y="4498627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Imputación de moda para años y altura.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2700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5087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7475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98627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3930"/>
            <a:ext cx="11049000" cy="484256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809625" y="571500"/>
            <a:ext cx="11351418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LIMPIEZA DE ALTURA (PARSING)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71500" y="571500"/>
            <a:ext cx="95250" cy="586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254600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Detección y corrección de corrupción de datos ("7-Jun" en lugar de 6' 7") y normalización a centímetros.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492725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Valores imposibles tratados mediante mediana del conjunto para asegurar robustez.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1353" y="2436465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79490"/>
            <a:ext cx="2547937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62312" y="3779490"/>
            <a:ext cx="2547937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809625" y="571500"/>
            <a:ext cx="11351418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BALANCEO DE CLASES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71500" y="571500"/>
            <a:ext cx="95250" cy="586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279841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DATASET FINAL: 2.121 JUGADORES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3017490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desequilibrio original (97.6% No Drafteados) dificultaba el aprendizaje. Se aplicó un balanceo realista: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4360515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ND Controlado: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Top 1.500 seleccionados por BPM y Minutos para un ratio equilibrado y competitivo.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924603" y="3436590"/>
            <a:ext cx="129629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ND (70%)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924603" y="3722340"/>
            <a:ext cx="129629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Ronda 1 (15%)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9924603" y="4008090"/>
            <a:ext cx="129629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Ronda 2 (15%)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7316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1495425" y="2738437"/>
            <a:ext cx="92011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LOS PROTAGONISTAS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2005012" y="3662362"/>
            <a:ext cx="8181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Tres españoles con opciones reales en el Draft 2026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67830"/>
            <a:ext cx="2214562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9437" y="2167830"/>
            <a:ext cx="2214562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701230"/>
            <a:ext cx="2214562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19437" y="2701230"/>
            <a:ext cx="2214562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1000125" y="762000"/>
            <a:ext cx="4550568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ADAY MARA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762000" y="762000"/>
            <a:ext cx="95250" cy="586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762000" y="1634430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Center · Michigan 🇪🇸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762000" y="3377505"/>
            <a:ext cx="4800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PROYECCIÓN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762000" y="3596580"/>
            <a:ext cx="4572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Potencial defensivo de élite y gran lectura de juego desde el poste. Su paso por Michigan ha validado su arquetipo de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Playmaking Big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762000" y="4739580"/>
            <a:ext cx="4800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MOCK DRAFT: TOP 15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67830"/>
            <a:ext cx="2214562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9437" y="2167830"/>
            <a:ext cx="2214562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701230"/>
            <a:ext cx="2214562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19437" y="2701230"/>
            <a:ext cx="2214562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1000125" y="762000"/>
            <a:ext cx="4550568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BABA MILLER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762000" y="762000"/>
            <a:ext cx="95250" cy="586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762000" y="1634430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SF/PF · Cincinnati 🇪🇸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762000" y="3377505"/>
            <a:ext cx="4800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PROYECCIÓN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762000" y="3596580"/>
            <a:ext cx="4572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 alero moderno ultra-versátil. Capacidad para rebotear y subir el balón. Su año senior en Cincinnati ha pulido su consistencia exterior.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762000" y="4739580"/>
            <a:ext cx="4800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MOCK DRAFT: PICK 32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2209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246340"/>
            <a:ext cx="52387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731615"/>
            <a:ext cx="21050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809625" y="571500"/>
            <a:ext cx="11351418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SERGIO DE LARREA</a:t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571500" y="571500"/>
            <a:ext cx="95250" cy="586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571500" y="1998315"/>
            <a:ext cx="5238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PG · Valencia Basket 🇪🇸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571500" y="4103340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Base de gran envergadura con visión de juego superior. Representa el arquetipo de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Guard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moderno europeo capaz de castigar tras bloqueo.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952500" y="2531715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Altura: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198 cm de puro talento.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952500" y="3055590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Métrica Clave: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43% en triples (ACB).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952500" y="3579465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Desarrollo: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Experiencia en Euroliga.</a:t>
            </a:r>
            <a:endParaRPr/>
          </a:p>
        </p:txBody>
      </p:sp>
      <p:pic>
        <p:nvPicPr>
          <p:cNvPr descr="image.png" id="222" name="Google Shape;22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53171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05559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579465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1690"/>
            <a:ext cx="3492400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331690"/>
            <a:ext cx="3492549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331690"/>
            <a:ext cx="3492400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75079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0650" y="27507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08950" y="275079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809625" y="571500"/>
            <a:ext cx="11351418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ARQUITECTURA DEL MODELO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71500" y="571500"/>
            <a:ext cx="95250" cy="586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952500" y="3455640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01. RONDA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952500" y="3874740"/>
            <a:ext cx="2730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Clasificación de 3 clases (R1/R2/ND). Entrenado con 13 años de NCAA.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952500" y="4731990"/>
            <a:ext cx="2730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XGBoost · SVM RBF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4730650" y="3455640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02. RANGO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4730650" y="3874740"/>
            <a:ext cx="27305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Predicción de franja específica (buckets de 10 picks). Refinamiento del target.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4730650" y="4731990"/>
            <a:ext cx="27305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Multiclass Classif.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8508950" y="3455640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03. ARQUETIPO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8508950" y="3874740"/>
            <a:ext cx="2730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Agrupación por perfil de juego (Base explosivo, 3&amp;D, Pívot clásico...).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8508950" y="4731990"/>
            <a:ext cx="2730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K-Means · Clustering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295275" y="571500"/>
            <a:ext cx="11601450" cy="184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¿QUIÉN SERÁ EL SIGUIENTE?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1809750" y="5129212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97316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ROBERTO CANTERO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1809750" y="5529262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Bridge · Data Science 2026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2190750" y="3081337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Análisis completo de prospectos basado en Ciencia de Datos.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2190750" y="3605212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App Interactiva: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Introduce stats y obtén la predicción inmediata.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2190750" y="4129087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Innovación Deportiva: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El futuro del análisis es algorítmico.</a:t>
            </a:r>
            <a:endParaRPr/>
          </a:p>
        </p:txBody>
      </p:sp>
      <p:pic>
        <p:nvPicPr>
          <p:cNvPr descr="image.png" id="258" name="Google Shape;25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0813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6052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129087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