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64592"/>
          </a:xfrm>
          <a:prstGeom prst="rect">
            <a:avLst/>
          </a:prstGeom>
          <a:solidFill>
            <a:srgbClr val="FDB927"/>
          </a:solidFill>
          <a:ln w="12700">
            <a:solidFill>
              <a:srgbClr val="FDB9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45720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26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PROYECTO MACHINE LEARNING · THE BRIDGE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00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NBA</a:t>
            </a:r>
            <a:endParaRPr lang="en-US" sz="100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0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DRAFT</a:t>
            </a:r>
            <a:endParaRPr lang="en-US" sz="100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0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2026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0" b="1" dirty="0">
                <a:solidFill>
                  <a:srgbClr val="FDB9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2026</a:t>
            </a:r>
            <a:endParaRPr lang="en-US" sz="10000" dirty="0"/>
          </a:p>
        </p:txBody>
      </p:sp>
      <p:sp>
        <p:nvSpPr>
          <p:cNvPr id="8" name="Shape 6"/>
          <p:cNvSpPr/>
          <p:nvPr/>
        </p:nvSpPr>
        <p:spPr>
          <a:xfrm>
            <a:off x="457200" y="4315968"/>
            <a:ext cx="36576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3708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Predicción con Machine Learning — ¿Quién será elegido?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736592"/>
            <a:ext cx="3200400" cy="274320"/>
          </a:xfrm>
          <a:prstGeom prst="rect">
            <a:avLst/>
          </a:prstGeom>
          <a:solidFill>
            <a:srgbClr val="FDB927"/>
          </a:solidFill>
          <a:ln w="12700">
            <a:solidFill>
              <a:srgbClr val="FDB9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736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ROBERTO CANTERO · DATA SCIENCE BOOTCAMP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0" y="1097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CUANDO LA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IA PREDICE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EL DRAFT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1280160" cy="54864"/>
          </a:xfrm>
          <a:prstGeom prst="rect">
            <a:avLst/>
          </a:prstGeom>
          <a:solidFill>
            <a:srgbClr val="FDB927"/>
          </a:solidFill>
          <a:ln w="12700">
            <a:solidFill>
              <a:srgbClr val="FDB9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Periodismo de datos · NBA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828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E0D8C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PROPUESTA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6200" b="1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PERIODISMO</a:t>
            </a:r>
            <a:endParaRPr lang="en-US" sz="6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200" b="1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 DATOS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medios predicen el Draft cada año con opiniones subjetivas. Este proyecto ofrece algo diferente: un artículo respaldado por un modelo de Machine Learning entrenado con 13 años de datos reales.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'creemos que Aday llegará al Top 10'. El modelo dice qué probabilidad real tiene.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0" y="274320"/>
            <a:ext cx="3749040" cy="14447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365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>
                    <a:alpha val="6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CLIENTE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257800" y="65836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Medio deportivo que busca diferenciarse con IA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20640" y="1847088"/>
            <a:ext cx="3749040" cy="1444752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9385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>
                    <a:alpha val="6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GANCHO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57800" y="2231136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Tres españoles con opciones reales en el Draft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20640" y="3419856"/>
            <a:ext cx="3749040" cy="144475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35112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F0E8">
                    <a:alpha val="6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RESULTADO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57800" y="380390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Ronda + rango de pick + arquetipo de jugador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DB9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FUENTE DE DATOS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8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NCAA</a:t>
            </a:r>
            <a:endParaRPr lang="en-US" sz="5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8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HISTÓRICO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61K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REGISTROS ORIGINALES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1920240" cy="36576"/>
          </a:xfrm>
          <a:prstGeom prst="rect">
            <a:avLst/>
          </a:prstGeom>
          <a:solidFill>
            <a:srgbClr val="1D2535"/>
          </a:solidFill>
          <a:ln w="12700">
            <a:solidFill>
              <a:srgbClr val="1D25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039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B9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4169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AÑOS (2009–21)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0" y="3749040"/>
            <a:ext cx="1920240" cy="36576"/>
          </a:xfrm>
          <a:prstGeom prst="rect">
            <a:avLst/>
          </a:prstGeom>
          <a:solidFill>
            <a:srgbClr val="1D2535"/>
          </a:solidFill>
          <a:ln w="12700">
            <a:solidFill>
              <a:srgbClr val="1D25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38039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B9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25K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4169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JUGADORES ÚNICOS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4407408"/>
            <a:ext cx="1920240" cy="36576"/>
          </a:xfrm>
          <a:prstGeom prst="rect">
            <a:avLst/>
          </a:prstGeom>
          <a:solidFill>
            <a:srgbClr val="1D2535"/>
          </a:solidFill>
          <a:ln w="12700">
            <a:solidFill>
              <a:srgbClr val="1D25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462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B9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VARIABLES ORIG.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0" y="4407408"/>
            <a:ext cx="1920240" cy="36576"/>
          </a:xfrm>
          <a:prstGeom prst="rect">
            <a:avLst/>
          </a:prstGeom>
          <a:solidFill>
            <a:srgbClr val="1D2535"/>
          </a:solidFill>
          <a:ln w="12700">
            <a:solidFill>
              <a:srgbClr val="1D25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4462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B9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1.435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560320" y="48280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DRAFTEADOS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3440" y="64008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 fila por jugador por temporada. Incluye puntos, rebotes, asistencias, tapones, BPM, eFG%, TS% y usage rate.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columna pick es la variable objetivo. Sin pick = no drafteado (ND).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tres españoles no jugaron en la NCAA — sus stats de ACB y EuroLeague se añaden manualmente para la predicción.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703320"/>
            <a:ext cx="1005840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703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42432" y="3703320"/>
            <a:ext cx="1005840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2432" y="3703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bpm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21424" y="3703320"/>
            <a:ext cx="1005840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3703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eFG%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00416" y="3703320"/>
            <a:ext cx="1005840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0416" y="3703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4087368"/>
            <a:ext cx="1005840" cy="292608"/>
          </a:xfrm>
          <a:prstGeom prst="rect">
            <a:avLst/>
          </a:prstGeom>
          <a:solidFill>
            <a:srgbClr val="1C2535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087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42432" y="4087368"/>
            <a:ext cx="1005840" cy="292608"/>
          </a:xfrm>
          <a:prstGeom prst="rect">
            <a:avLst/>
          </a:prstGeom>
          <a:solidFill>
            <a:srgbClr val="1C2535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4087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21424" y="4087368"/>
            <a:ext cx="1005840" cy="292608"/>
          </a:xfrm>
          <a:prstGeom prst="rect">
            <a:avLst/>
          </a:prstGeom>
          <a:solidFill>
            <a:srgbClr val="1C2535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4087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900416" y="4087368"/>
            <a:ext cx="1005840" cy="292608"/>
          </a:xfrm>
          <a:prstGeom prst="rect">
            <a:avLst/>
          </a:prstGeom>
          <a:solidFill>
            <a:srgbClr val="1C2535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00416" y="4087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4471416"/>
            <a:ext cx="1005840" cy="292608"/>
          </a:xfrm>
          <a:prstGeom prst="rect">
            <a:avLst/>
          </a:prstGeom>
          <a:solidFill>
            <a:srgbClr val="1C2535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44714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TS%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42432" y="4471416"/>
            <a:ext cx="1005840" cy="292608"/>
          </a:xfrm>
          <a:prstGeom prst="rect">
            <a:avLst/>
          </a:prstGeom>
          <a:solidFill>
            <a:srgbClr val="1C2535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42432" y="44714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altura_cm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D42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PREPARACIÓN DEL DATASET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 66 A 37 FEATURES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201168" y="1572768"/>
            <a:ext cx="2816352" cy="23957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6420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NaN TRATADOS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2487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 → no se toca (target)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 Rank (70% NaN) → eliminada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rimmade / midmade → mediana/año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Stats básicas → mediana/año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yr, ht → moda del dataset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72968" y="1572768"/>
            <a:ext cx="2816352" cy="2395728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66420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ALTURA PARSEADA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37560" y="2103120"/>
            <a:ext cx="2487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"7-Jun" = 6 pies 7 pulgadas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Formato corrupto por Excel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Convertida a centímetros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Media: 195 cm · Rango: 160–228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Valores imposibles → mediana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44768" y="1572768"/>
            <a:ext cx="2816352" cy="23957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66420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BALANCEO CLASES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2487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ND original: 97.6% del dataset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R1 (322) + R2 (299): todos OK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ND: top 1.500 por BPM + minutos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Ratio realista y equilibrado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final: 2.121 jugadores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4160520"/>
            <a:ext cx="1572768" cy="685800"/>
          </a:xfrm>
          <a:prstGeom prst="rect">
            <a:avLst/>
          </a:prstGeom>
          <a:solidFill>
            <a:srgbClr val="181828"/>
          </a:solidFill>
          <a:ln w="12700">
            <a:solidFill>
              <a:srgbClr val="181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3936" y="4160520"/>
            <a:ext cx="182880" cy="685800"/>
          </a:xfrm>
          <a:prstGeom prst="rect">
            <a:avLst/>
          </a:prstGeom>
          <a:solidFill>
            <a:srgbClr val="181828"/>
          </a:solidFill>
          <a:ln w="12700">
            <a:solidFill>
              <a:srgbClr val="181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416052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61K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registros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92224" y="416052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56816" y="4160520"/>
            <a:ext cx="1572768" cy="685800"/>
          </a:xfrm>
          <a:prstGeom prst="rect">
            <a:avLst/>
          </a:prstGeom>
          <a:solidFill>
            <a:srgbClr val="181828"/>
          </a:solidFill>
          <a:ln w="12700">
            <a:solidFill>
              <a:srgbClr val="181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9584" y="4160520"/>
            <a:ext cx="182880" cy="685800"/>
          </a:xfrm>
          <a:prstGeom prst="rect">
            <a:avLst/>
          </a:prstGeom>
          <a:solidFill>
            <a:srgbClr val="181828"/>
          </a:solidFill>
          <a:ln w="12700">
            <a:solidFill>
              <a:srgbClr val="181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56816" y="416052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25K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última temp.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47872" y="416052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12464" y="4160520"/>
            <a:ext cx="1572768" cy="685800"/>
          </a:xfrm>
          <a:prstGeom prst="rect">
            <a:avLst/>
          </a:prstGeom>
          <a:solidFill>
            <a:srgbClr val="181828"/>
          </a:solidFill>
          <a:ln w="12700">
            <a:solidFill>
              <a:srgbClr val="181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85232" y="4160520"/>
            <a:ext cx="182880" cy="685800"/>
          </a:xfrm>
          <a:prstGeom prst="rect">
            <a:avLst/>
          </a:prstGeom>
          <a:solidFill>
            <a:srgbClr val="181828"/>
          </a:solidFill>
          <a:ln w="12700">
            <a:solidFill>
              <a:srgbClr val="181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2464" y="416052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−120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outliers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416052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68112" y="4160520"/>
            <a:ext cx="1572768" cy="685800"/>
          </a:xfrm>
          <a:prstGeom prst="rect">
            <a:avLst/>
          </a:prstGeom>
          <a:solidFill>
            <a:srgbClr val="181828"/>
          </a:solidFill>
          <a:ln w="12700">
            <a:solidFill>
              <a:srgbClr val="1818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4160520"/>
            <a:ext cx="182880" cy="685800"/>
          </a:xfrm>
          <a:prstGeom prst="rect">
            <a:avLst/>
          </a:prstGeom>
          <a:solidFill>
            <a:srgbClr val="181828"/>
          </a:solidFill>
          <a:ln w="12700">
            <a:solidFill>
              <a:srgbClr val="181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68112" y="416052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2.121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balanceo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59168" y="416052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3760" y="4160520"/>
            <a:ext cx="1572768" cy="685800"/>
          </a:xfrm>
          <a:prstGeom prst="rect">
            <a:avLst/>
          </a:prstGeom>
          <a:solidFill>
            <a:srgbClr val="FDB927"/>
          </a:solidFill>
          <a:ln w="12700">
            <a:solidFill>
              <a:srgbClr val="FDB9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416052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features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DB927"/>
          </a:solidFill>
          <a:ln w="12700">
            <a:solidFill>
              <a:srgbClr val="FDB9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DB9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PROTAGONISTAS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TRES ESPAÑOLES EN EL DRAFT 2026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" y="1280160"/>
            <a:ext cx="2880360" cy="3749040"/>
          </a:xfrm>
          <a:prstGeom prst="rect">
            <a:avLst/>
          </a:prstGeom>
          <a:solidFill>
            <a:srgbClr val="18050A"/>
          </a:solidFill>
          <a:ln w="12700">
            <a:solidFill>
              <a:srgbClr val="1805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280160"/>
            <a:ext cx="28803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7" name="Image 0" descr="/home/claude/imgs/aday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548640" y="1325880"/>
            <a:ext cx="146304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6032" y="13716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ADAY</a:t>
            </a:r>
            <a:endParaRPr lang="en-US" sz="2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MARA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256032" y="24505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CENTER · MICHIGAN 🇪🇸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56032" y="2724912"/>
            <a:ext cx="2551176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27797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6304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12.1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56032" y="3108960"/>
            <a:ext cx="2551176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" y="32369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RPG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463040" y="3200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6.8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56032" y="3566160"/>
            <a:ext cx="2551176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6032" y="36941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BPG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463040" y="3657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2.6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256032" y="4023360"/>
            <a:ext cx="2551176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6032" y="41513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BPM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463040" y="4114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+11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256032" y="4480560"/>
            <a:ext cx="2551176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" y="4709160"/>
            <a:ext cx="2551176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6032" y="4709160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MOCK DRAFT ~TOP 15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108960" y="1280160"/>
            <a:ext cx="2880360" cy="3749040"/>
          </a:xfrm>
          <a:prstGeom prst="rect">
            <a:avLst/>
          </a:prstGeom>
          <a:solidFill>
            <a:srgbClr val="0E0C02"/>
          </a:solidFill>
          <a:ln w="12700">
            <a:solidFill>
              <a:srgbClr val="0E0C0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108960" y="1280160"/>
            <a:ext cx="2880360" cy="73152"/>
          </a:xfrm>
          <a:prstGeom prst="rect">
            <a:avLst/>
          </a:prstGeom>
          <a:solidFill>
            <a:srgbClr val="FDB927"/>
          </a:solidFill>
          <a:ln w="12700">
            <a:solidFill>
              <a:srgbClr val="FDB927"/>
            </a:solidFill>
            <a:prstDash val="solid"/>
          </a:ln>
        </p:spPr>
      </p:sp>
      <p:pic>
        <p:nvPicPr>
          <p:cNvPr id="27" name="Image 1" descr="/home/claude/imgs/baba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3566160" y="1325880"/>
            <a:ext cx="1463040" cy="20116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273552" y="13716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BABA</a:t>
            </a:r>
            <a:endParaRPr lang="en-US" sz="2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MILLER</a:t>
            </a:r>
            <a:endParaRPr lang="en-US" sz="2800" dirty="0"/>
          </a:p>
        </p:txBody>
      </p:sp>
      <p:sp>
        <p:nvSpPr>
          <p:cNvPr id="29" name="Text 25"/>
          <p:cNvSpPr/>
          <p:nvPr/>
        </p:nvSpPr>
        <p:spPr>
          <a:xfrm>
            <a:off x="3273552" y="24505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SF/PF · CINCINNATI 🇪🇸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3273552" y="2724912"/>
            <a:ext cx="2551176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273552" y="27797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PPG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48056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13.0</a:t>
            </a:r>
            <a:endParaRPr lang="en-US" sz="2000" dirty="0"/>
          </a:p>
        </p:txBody>
      </p:sp>
      <p:sp>
        <p:nvSpPr>
          <p:cNvPr id="33" name="Shape 29"/>
          <p:cNvSpPr/>
          <p:nvPr/>
        </p:nvSpPr>
        <p:spPr>
          <a:xfrm>
            <a:off x="3273552" y="3108960"/>
            <a:ext cx="2551176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273552" y="32369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RPG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480560" y="3200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10.3</a:t>
            </a:r>
            <a:endParaRPr lang="en-US" sz="2000" dirty="0"/>
          </a:p>
        </p:txBody>
      </p:sp>
      <p:sp>
        <p:nvSpPr>
          <p:cNvPr id="36" name="Shape 32"/>
          <p:cNvSpPr/>
          <p:nvPr/>
        </p:nvSpPr>
        <p:spPr>
          <a:xfrm>
            <a:off x="3273552" y="3566160"/>
            <a:ext cx="2551176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273552" y="36941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APG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4480560" y="3657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3.7</a:t>
            </a:r>
            <a:endParaRPr lang="en-US" sz="2000" dirty="0"/>
          </a:p>
        </p:txBody>
      </p:sp>
      <p:sp>
        <p:nvSpPr>
          <p:cNvPr id="39" name="Shape 35"/>
          <p:cNvSpPr/>
          <p:nvPr/>
        </p:nvSpPr>
        <p:spPr>
          <a:xfrm>
            <a:off x="3273552" y="4023360"/>
            <a:ext cx="2551176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273552" y="41513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BPM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4480560" y="4114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+9.4</a:t>
            </a:r>
            <a:endParaRPr lang="en-US" sz="2000" dirty="0"/>
          </a:p>
        </p:txBody>
      </p:sp>
      <p:sp>
        <p:nvSpPr>
          <p:cNvPr id="42" name="Shape 38"/>
          <p:cNvSpPr/>
          <p:nvPr/>
        </p:nvSpPr>
        <p:spPr>
          <a:xfrm>
            <a:off x="3273552" y="4480560"/>
            <a:ext cx="2551176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3273552" y="4709160"/>
            <a:ext cx="2551176" cy="256032"/>
          </a:xfrm>
          <a:prstGeom prst="rect">
            <a:avLst/>
          </a:prstGeom>
          <a:solidFill>
            <a:srgbClr val="FDB927"/>
          </a:solidFill>
          <a:ln w="12700">
            <a:solidFill>
              <a:srgbClr val="FDB927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73552" y="4709160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MOCK DRAFT ~PICK 32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6126480" y="1280160"/>
            <a:ext cx="2880360" cy="3749040"/>
          </a:xfrm>
          <a:prstGeom prst="rect">
            <a:avLst/>
          </a:prstGeom>
          <a:solidFill>
            <a:srgbClr val="02050E"/>
          </a:solidFill>
          <a:ln w="12700">
            <a:solidFill>
              <a:srgbClr val="02050E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126480" y="1280160"/>
            <a:ext cx="2880360" cy="73152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pic>
        <p:nvPicPr>
          <p:cNvPr id="47" name="Image 2" descr="/home/claude/imgs/sergio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583680" y="1325880"/>
            <a:ext cx="1463040" cy="2011680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6291072" y="13716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SERGIO</a:t>
            </a:r>
            <a:endParaRPr lang="en-US" sz="2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 LARREA</a:t>
            </a:r>
            <a:endParaRPr lang="en-US" sz="2800" dirty="0"/>
          </a:p>
        </p:txBody>
      </p:sp>
      <p:sp>
        <p:nvSpPr>
          <p:cNvPr id="49" name="Text 44"/>
          <p:cNvSpPr/>
          <p:nvPr/>
        </p:nvSpPr>
        <p:spPr>
          <a:xfrm>
            <a:off x="6291072" y="24505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PG · VALENCIA BASKET 🇪🇸</a:t>
            </a:r>
            <a:endParaRPr lang="en-US" sz="800" dirty="0"/>
          </a:p>
        </p:txBody>
      </p:sp>
      <p:sp>
        <p:nvSpPr>
          <p:cNvPr id="50" name="Shape 45"/>
          <p:cNvSpPr/>
          <p:nvPr/>
        </p:nvSpPr>
        <p:spPr>
          <a:xfrm>
            <a:off x="6291072" y="2724912"/>
            <a:ext cx="2551176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291072" y="27797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ALT.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749808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198cm</a:t>
            </a:r>
            <a:endParaRPr lang="en-US" sz="2000" dirty="0"/>
          </a:p>
        </p:txBody>
      </p:sp>
      <p:sp>
        <p:nvSpPr>
          <p:cNvPr id="53" name="Shape 48"/>
          <p:cNvSpPr/>
          <p:nvPr/>
        </p:nvSpPr>
        <p:spPr>
          <a:xfrm>
            <a:off x="6291072" y="3108960"/>
            <a:ext cx="2551176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6291072" y="32369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PESO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7498080" y="3200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79kg</a:t>
            </a:r>
            <a:endParaRPr lang="en-US" sz="2000" dirty="0"/>
          </a:p>
        </p:txBody>
      </p:sp>
      <p:sp>
        <p:nvSpPr>
          <p:cNvPr id="56" name="Shape 51"/>
          <p:cNvSpPr/>
          <p:nvPr/>
        </p:nvSpPr>
        <p:spPr>
          <a:xfrm>
            <a:off x="6291072" y="3566160"/>
            <a:ext cx="2551176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6291072" y="36941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ENV.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7498080" y="3657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202cm</a:t>
            </a:r>
            <a:endParaRPr lang="en-US" sz="2000" dirty="0"/>
          </a:p>
        </p:txBody>
      </p:sp>
      <p:sp>
        <p:nvSpPr>
          <p:cNvPr id="59" name="Shape 54"/>
          <p:cNvSpPr/>
          <p:nvPr/>
        </p:nvSpPr>
        <p:spPr>
          <a:xfrm>
            <a:off x="6291072" y="4023360"/>
            <a:ext cx="2551176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6291072" y="4709160"/>
            <a:ext cx="2551176" cy="256032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6291072" y="4709160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MOCK DRAFT ~PICK 40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MODELO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0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TRES PREDICCIONES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28600" y="1572768"/>
            <a:ext cx="2816352" cy="3401568"/>
          </a:xfrm>
          <a:prstGeom prst="rect">
            <a:avLst/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572768"/>
            <a:ext cx="2816352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6276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102E">
                    <a:alpha val="8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93192" y="233172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RONDA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3192" y="2971800"/>
            <a:ext cx="2487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¿R1 / R2 / ND? Clasificación de 3 clases entrenada con 13 años de datos NCAA.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" y="4617720"/>
            <a:ext cx="2487168" cy="256032"/>
          </a:xfrm>
          <a:prstGeom prst="rect">
            <a:avLst/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461772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XGBoost · SVM RBF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572768"/>
            <a:ext cx="2816352" cy="3401568"/>
          </a:xfrm>
          <a:prstGeom prst="rect">
            <a:avLst/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572768"/>
            <a:ext cx="2816352" cy="54864"/>
          </a:xfrm>
          <a:prstGeom prst="rect">
            <a:avLst/>
          </a:prstGeom>
          <a:solidFill>
            <a:srgbClr val="FDB927"/>
          </a:solidFill>
          <a:ln w="12700">
            <a:solidFill>
              <a:srgbClr val="FDB9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6276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DB927">
                    <a:alpha val="8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364992" y="233172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B9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RANGO DE PICK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64992" y="2971800"/>
            <a:ext cx="2487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¿En qué franja del draft? Rangos de 10 picks: 1-10, 11-20, 21-30, 31-40, 41-50, 51-60.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64992" y="4617720"/>
            <a:ext cx="2487168" cy="256032"/>
          </a:xfrm>
          <a:prstGeom prst="rect">
            <a:avLst/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461772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Clasificación multiclase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72200" y="1572768"/>
            <a:ext cx="2816352" cy="3401568"/>
          </a:xfrm>
          <a:prstGeom prst="rect">
            <a:avLst/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572768"/>
            <a:ext cx="2816352" cy="54864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16276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428A">
                    <a:alpha val="8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336792" y="233172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28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ARQUETIPO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36792" y="2971800"/>
            <a:ext cx="2487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¿A qué perfil pertenece? Base explosivo, alero 3&amp;D, pívot clásico... Clustering automático.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36792" y="4617720"/>
            <a:ext cx="2487168" cy="256032"/>
          </a:xfrm>
          <a:prstGeom prst="rect">
            <a:avLst/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461772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K-Means · No supervisado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DB927"/>
          </a:solidFill>
          <a:ln w="12700">
            <a:solidFill>
              <a:srgbClr val="FDB9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OBJETIVO FINAL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4389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800" b="1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¿QUIÉN</a:t>
            </a:r>
            <a:endParaRPr lang="en-US" sz="5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800" b="1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SERÁ EL</a:t>
            </a:r>
            <a:endParaRPr lang="en-US" sz="5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800" b="1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SIGUIENTE?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457200" y="2999232"/>
            <a:ext cx="2286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384048"/>
            <a:ext cx="3840480" cy="14081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38928" y="4389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35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138928" y="804672"/>
            <a:ext cx="36210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completo de Aday Mara, Baba Miller y Sergio De Larrea respaldado por Machine Learning — no por opiniones.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920240"/>
            <a:ext cx="3840480" cy="1408176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97510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35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138928" y="2340864"/>
            <a:ext cx="36210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interactiva: introduce las stats de cualquier jugador y obtén ronda predicha, rango de pick y arquetipo.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3456432"/>
            <a:ext cx="3840480" cy="1408176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351129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>
                    <a:alpha val="35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138928" y="3877056"/>
            <a:ext cx="36210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Periodismo de datos — herramientas de IA al servicio del análisis deportivo. Algo distinto, algo nuevo.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937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ROBERTO CANTERO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495604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Bootcamp Data Science · The Bridge · 2026  |  NBA Draft 2026 ML Project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2026-06-03T08:08:07Z</dcterms:created>
  <dcterms:modified xsi:type="dcterms:W3CDTF">2026-06-03T08:08:07Z</dcterms:modified>
</cp:coreProperties>
</file>