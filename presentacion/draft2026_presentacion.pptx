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44568" y="0"/>
            <a:ext cx="54864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09160"/>
            <a:ext cx="4572000" cy="4343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PROYECTO MACHINE LEARNING · THE BRIDGE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8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NBA</a:t>
            </a:r>
            <a:endParaRPr lang="en-US" sz="88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8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</a:t>
            </a:r>
            <a:endParaRPr lang="en-US" sz="88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8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365760" y="42245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Predicción con Machine Learning — ¿Quién será elegido?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4727448"/>
            <a:ext cx="2926080" cy="292608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727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8080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ROBERTO CANTERO · DATA SCIENCE BOOTCAMP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00600" y="640080"/>
            <a:ext cx="4114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CUANDO LA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INTELIGENCIA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ARTIFICIAL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PREDICE EL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00600" y="39776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DB9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800600" y="4709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Periodismo de datos · Machine Learning · NBA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914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DEDA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102E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LA PROPUESTA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PERIODISMO</a:t>
            </a:r>
            <a:endParaRPr lang="en-US" sz="5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DATOS</a:t>
            </a:r>
            <a:endParaRPr lang="en-US" sz="5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Los medios predicen el Draft cada año con opiniones subjetivas. Este proyecto ofrece algo distinto: un artículo respaldado por un modelo de Machine Learning entrenado con 13 años de estadísticas reales.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No "creemos que Aday llegará al Top 10". Sino: el modelo asigna una probabilidad real basada en datos objetivos.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0" y="411480"/>
            <a:ext cx="3749040" cy="14173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0" y="521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>
                    <a:alpha val="65000"/>
                  </a:srgbClr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EL CLIENTE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257800" y="79552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Medio deportivo que quiere diferenciarse con IA y datos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1965960"/>
            <a:ext cx="3749040" cy="141732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2075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>
                    <a:alpha val="65000"/>
                  </a:srgbClr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EL GANCHO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257800" y="235000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Tres jugadores españoles con opciones reales en el Draft 2026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0" y="3520440"/>
            <a:ext cx="3749040" cy="14173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36301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2EDE3">
                    <a:alpha val="65000"/>
                  </a:srgbClr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EL RESULTADO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57800" y="390448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Ronda + rango de pick + arquetipo de jugador para cada español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DB927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LA FUENTE DE DATOS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NCAA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HISTÓRICO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61K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888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REGISTROS ORIGINALES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192024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581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B9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4142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888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AÑOS (2009–21)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3703320"/>
            <a:ext cx="192024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7581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B9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4142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888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JUGADORES ÚNICOS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192024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4439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B9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888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VARIABLES ORIG.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60320" y="4389120"/>
            <a:ext cx="192024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44439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B9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1.435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60320" y="48280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888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DRAFTEADOS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3440" y="64008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Una fila por jugador por temporada. Incluye puntos, rebotes, asistencias, tapones, BPM, eFG%, TS% y usage rate.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La columna pick es la variable objetivo. Los jugadores sin pick son los no drafteados (ND).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Los españoles no jugaron en la NCAA — sus stats de ACB y EuroLeague se introducen manualmente.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703320"/>
            <a:ext cx="100584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pts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42432" y="3703320"/>
            <a:ext cx="100584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bpm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21424" y="3703320"/>
            <a:ext cx="100584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eFG%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900416" y="3703320"/>
            <a:ext cx="100584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usg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4069080"/>
            <a:ext cx="1005840" cy="292608"/>
          </a:xfrm>
          <a:prstGeom prst="rect">
            <a:avLst/>
          </a:prstGeom>
          <a:solidFill>
            <a:srgbClr val="222233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069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8888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treb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42432" y="4069080"/>
            <a:ext cx="1005840" cy="292608"/>
          </a:xfrm>
          <a:prstGeom prst="rect">
            <a:avLst/>
          </a:prstGeom>
          <a:solidFill>
            <a:srgbClr val="222233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4069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8888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ast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21424" y="4069080"/>
            <a:ext cx="1005840" cy="292608"/>
          </a:xfrm>
          <a:prstGeom prst="rect">
            <a:avLst/>
          </a:prstGeom>
          <a:solidFill>
            <a:srgbClr val="222233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1424" y="4069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8888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blk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00416" y="4069080"/>
            <a:ext cx="1005840" cy="292608"/>
          </a:xfrm>
          <a:prstGeom prst="rect">
            <a:avLst/>
          </a:prstGeom>
          <a:solidFill>
            <a:srgbClr val="222233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0416" y="4069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8888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stl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4434840"/>
            <a:ext cx="1005840" cy="292608"/>
          </a:xfrm>
          <a:prstGeom prst="rect">
            <a:avLst/>
          </a:prstGeom>
          <a:solidFill>
            <a:srgbClr val="222233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434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8888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TS%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42432" y="4434840"/>
            <a:ext cx="1005840" cy="292608"/>
          </a:xfrm>
          <a:prstGeom prst="rect">
            <a:avLst/>
          </a:prstGeom>
          <a:solidFill>
            <a:srgbClr val="222233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42432" y="4434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8888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altura_cm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1D428A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PREPARACIÓN DEL DATASET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66 A 37 FEATURES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01168" y="1645920"/>
            <a:ext cx="2834640" cy="2377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37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NaN TRATADOS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212848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pick → no se toca (son los ND)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Rec Rank (70% NaN) → eliminada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rimmade / midmade → mediana/año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Stats básicas → mediana/año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yr, ht → moda del dataset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72968" y="1645920"/>
            <a:ext cx="2834640" cy="237744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ALTURA PARSEADA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37560" y="2212848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"7-Jun" = 6 pies 7 pulgadas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Formato corrupto por Excel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Convertida a centímetros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Media del dataset: 195 cm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Rango real: 160 – 228 cm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44768" y="1645920"/>
            <a:ext cx="2834640" cy="2377440"/>
          </a:xfrm>
          <a:prstGeom prst="rect">
            <a:avLst/>
          </a:prstGeom>
          <a:solidFill>
            <a:srgbClr val="1A1A2A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737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BALANCEO CLASES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212848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ND original: 97.6% del dataset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R1 (322) + R2 (299): todos incluidos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ND: top 1.500 por BPM y minutos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Ratio realista pero equilibrado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Dataset final: 2.121 jugadores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4251960"/>
            <a:ext cx="1572768" cy="658368"/>
          </a:xfrm>
          <a:prstGeom prst="rect">
            <a:avLst/>
          </a:prstGeom>
          <a:solidFill>
            <a:srgbClr val="1A1A2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425196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61K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73936" y="425196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102E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56816" y="4251960"/>
            <a:ext cx="1572768" cy="658368"/>
          </a:xfrm>
          <a:prstGeom prst="rect">
            <a:avLst/>
          </a:prstGeom>
          <a:solidFill>
            <a:srgbClr val="1A1A2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6816" y="425196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última temp.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9584" y="425196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102E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12464" y="4251960"/>
            <a:ext cx="1572768" cy="658368"/>
          </a:xfrm>
          <a:prstGeom prst="rect">
            <a:avLst/>
          </a:prstGeom>
          <a:solidFill>
            <a:srgbClr val="1A1A2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425196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−120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outliers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85232" y="425196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102E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68112" y="4251960"/>
            <a:ext cx="1572768" cy="658368"/>
          </a:xfrm>
          <a:prstGeom prst="rect">
            <a:avLst/>
          </a:prstGeom>
          <a:solidFill>
            <a:srgbClr val="1A1A2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425196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2.121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balanceo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425196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102E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23760" y="4251960"/>
            <a:ext cx="1572768" cy="658368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425196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DB927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LOS PROTAGONISTAS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TRES ESPAÑOLES EN EL DRAFT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9728" y="1280160"/>
            <a:ext cx="2852928" cy="3749040"/>
          </a:xfrm>
          <a:prstGeom prst="rect">
            <a:avLst/>
          </a:prstGeom>
          <a:solidFill>
            <a:srgbClr val="180508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1280160"/>
            <a:ext cx="2852928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38988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4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ADAY MARA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92608" y="23774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66666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Center · Michigan 🇪🇸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" y="2679192"/>
            <a:ext cx="2487168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PPG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81328" y="27066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12.1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92608" y="3081528"/>
            <a:ext cx="2487168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RPG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81328" y="3163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92608" y="3538728"/>
            <a:ext cx="2487168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BPG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81328" y="36210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2.6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92608" y="3995928"/>
            <a:ext cx="2487168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BPM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81328" y="4078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+11.0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92608" y="4453128"/>
            <a:ext cx="2487168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4681728"/>
            <a:ext cx="2487168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468172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MOCK DRAFT ~TOP 15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18104" y="1280160"/>
            <a:ext cx="2852928" cy="3749040"/>
          </a:xfrm>
          <a:prstGeom prst="rect">
            <a:avLst/>
          </a:prstGeom>
          <a:solidFill>
            <a:srgbClr val="0509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18104" y="1280160"/>
            <a:ext cx="2852928" cy="64008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00984" y="138988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4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BABA MILLER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300984" y="23774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66666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SF/PF · Cincinnati 🇪🇸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00984" y="2679192"/>
            <a:ext cx="2487168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00984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PPG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9704" y="27066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13.0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300984" y="3081528"/>
            <a:ext cx="2487168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0984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RPG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89704" y="3163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10.3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300984" y="3538728"/>
            <a:ext cx="2487168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00984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APG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89704" y="36210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3.7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3300984" y="3995928"/>
            <a:ext cx="2487168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00984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BPM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89704" y="4078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+9.4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3300984" y="4453128"/>
            <a:ext cx="2487168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00984" y="4681728"/>
            <a:ext cx="2487168" cy="256032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00984" y="468172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8080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MOCK DRAFT ~PICK 32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26480" y="1280160"/>
            <a:ext cx="2852928" cy="3749040"/>
          </a:xfrm>
          <a:prstGeom prst="rect">
            <a:avLst/>
          </a:prstGeom>
          <a:solidFill>
            <a:srgbClr val="050A18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1280160"/>
            <a:ext cx="2852928" cy="64008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138988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4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SERGIO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LARREA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6309360" y="23774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66666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PG · Valencia Basket 🇪🇸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2679192"/>
            <a:ext cx="2487168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ALT.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98080" y="27066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198 cm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6309360" y="3081528"/>
            <a:ext cx="2487168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PESO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98080" y="3163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79 kg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309360" y="3538728"/>
            <a:ext cx="2487168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ENV.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498080" y="36210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 cm</a:t>
            </a:r>
            <a:endParaRPr lang="en-US" sz="2000" dirty="0"/>
          </a:p>
        </p:txBody>
      </p:sp>
      <p:sp>
        <p:nvSpPr>
          <p:cNvPr id="55" name="Shape 53"/>
          <p:cNvSpPr/>
          <p:nvPr/>
        </p:nvSpPr>
        <p:spPr>
          <a:xfrm>
            <a:off x="6309360" y="3995928"/>
            <a:ext cx="2487168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4681728"/>
            <a:ext cx="2487168" cy="256032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468172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MOCK DRAFT ~PICK 40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102E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EL MODELO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2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TRES PREDICCIONES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01168" y="1600200"/>
            <a:ext cx="2834640" cy="3291840"/>
          </a:xfrm>
          <a:prstGeom prst="rect">
            <a:avLst/>
          </a:prstGeom>
          <a:solidFill>
            <a:srgbClr val="131928"/>
          </a:solidFill>
          <a:ln w="12700">
            <a:solidFill>
              <a:srgbClr val="1319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600200"/>
            <a:ext cx="283464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719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4048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RONDA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28803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Predice si el jugador será elegido en primera ronda, segunda ronda o no será drafteado.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4480560"/>
            <a:ext cx="2468880" cy="274320"/>
          </a:xfrm>
          <a:prstGeom prst="rect">
            <a:avLst/>
          </a:prstGeom>
          <a:solidFill>
            <a:srgbClr val="1C2535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Target: R1 / R2 / ND · XGBoost / SVM RBF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72968" y="1600200"/>
            <a:ext cx="2834640" cy="3291840"/>
          </a:xfrm>
          <a:prstGeom prst="rect">
            <a:avLst/>
          </a:prstGeom>
          <a:solidFill>
            <a:srgbClr val="131928"/>
          </a:solidFill>
          <a:ln w="12700">
            <a:solidFill>
              <a:srgbClr val="1319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600200"/>
            <a:ext cx="2834640" cy="54864"/>
          </a:xfrm>
          <a:prstGeom prst="rect">
            <a:avLst/>
          </a:prstGeom>
          <a:solidFill>
            <a:srgbClr val="FDB927"/>
          </a:solidFill>
          <a:ln w="12700">
            <a:solidFill>
              <a:srgbClr val="FDB9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719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55848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B9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 DE PICK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55848" y="28803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Para los jugadores drafteados, estima en qué franja caerán: 1-10, 11-20, 21-30, 31-40, 41-50, 51-60.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55848" y="4480560"/>
            <a:ext cx="2468880" cy="274320"/>
          </a:xfrm>
          <a:prstGeom prst="rect">
            <a:avLst/>
          </a:prstGeom>
          <a:solidFill>
            <a:srgbClr val="1C2535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Clasificación multiclase · 6 rangos de 10 picks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44768" y="1600200"/>
            <a:ext cx="2834640" cy="3291840"/>
          </a:xfrm>
          <a:prstGeom prst="rect">
            <a:avLst/>
          </a:prstGeom>
          <a:solidFill>
            <a:srgbClr val="131928"/>
          </a:solidFill>
          <a:ln w="12700">
            <a:solidFill>
              <a:srgbClr val="1319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4768" y="1600200"/>
            <a:ext cx="2834640" cy="54864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1719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27648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2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ARQUETIPO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27648" y="28803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Agrupa jugadores en perfiles: base explosivo, alero 3&amp;D, pívot clásico... Ubica al jugador en su cluster.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27648" y="4480560"/>
            <a:ext cx="2468880" cy="274320"/>
          </a:xfrm>
          <a:prstGeom prst="rect">
            <a:avLst/>
          </a:prstGeom>
          <a:solidFill>
            <a:srgbClr val="1C2535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K-Means · Aprendizaje no supervisado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102E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OBJETIVO FINAL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¿QUIÉN</a:t>
            </a:r>
            <a:endParaRPr lang="en-US" sz="5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SERÁ EL</a:t>
            </a:r>
            <a:endParaRPr lang="en-US" sz="5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SIGUIENTE?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219456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384048"/>
            <a:ext cx="3840480" cy="13716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457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>
                    <a:alpha val="3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120640" y="79552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Análisis completo de los tres españoles respaldado por Machine Learning — no por opiniones.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892808"/>
            <a:ext cx="3840480" cy="137160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>
                    <a:alpha val="3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120640" y="230428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App interactiva para cualquier jugador: introduce sus stats y obtén ronda, rango de pick y arquetipo.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3401568"/>
            <a:ext cx="3840480" cy="137160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3474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DE3">
                    <a:alpha val="3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120640" y="38130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2EDE3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Periodismo de datos — herramientas de IA al servicio del análisis deportivo profesional.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84124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ROBERTO CANTERO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486460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FreeSans" pitchFamily="34" charset="0"/>
                <a:ea typeface="FreeSans" pitchFamily="34" charset="-122"/>
                <a:cs typeface="FreeSans" pitchFamily="34" charset="-120"/>
              </a:rPr>
              <a:t>Bootcamp Data Science · The Bridge · 2026  |  NBA Draft 2026 ML Project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NBA Draft 2026 — ML Project</dc:title>
  <dc:subject>PptxGenJS Presentation</dc:subject>
  <dc:creator>Roberto Cantero</dc:creator>
  <cp:lastModifiedBy>Roberto Cantero</cp:lastModifiedBy>
  <cp:revision>1</cp:revision>
  <dcterms:created xsi:type="dcterms:W3CDTF">2026-06-03T07:56:37Z</dcterms:created>
  <dcterms:modified xsi:type="dcterms:W3CDTF">2026-06-03T07:56:37Z</dcterms:modified>
</cp:coreProperties>
</file>